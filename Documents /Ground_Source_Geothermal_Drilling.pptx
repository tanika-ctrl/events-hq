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822960"/>
            <a:ext cx="3200400" cy="3200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194560" cy="219456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154680"/>
            <a:ext cx="53035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 SOURCE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GEOTHERMAL DRILLING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Earth's Natural Energy for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Heating &amp; Cooling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4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 ·  CLEAN TECHNOLOGY  ·  EARTH'S CONSTANT HEAT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Ground Source Geothermal?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937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91440" cy="3749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source geothermal drilling creates deep boreholes to install underground heat exchange loops that harness the Earth's natural thermal energy.</a:t>
            </a: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HVAC systems that generate heat, geothermal heat pumps simply move it — drawing warmth from the stable subsurface in winter and expelling heat back into the cooler ground in summer.</a:t>
            </a: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maintains a consistent temperature of 50–60°F just a few feet below the surface, regardless of weather above ground — making it a reliable, year-round energy source.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532120" y="960120"/>
            <a:ext cx="32918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32120" y="960120"/>
            <a:ext cx="91440" cy="87782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10149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50–60°F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33288" y="1417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ground temp year-round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32120" y="1984248"/>
            <a:ext cx="32918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32120" y="1984248"/>
            <a:ext cx="91440" cy="877824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20391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33288" y="2441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heating energy reduction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32120" y="3008376"/>
            <a:ext cx="32918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3008376"/>
            <a:ext cx="91440" cy="87782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33288" y="30632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33288" y="34655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cooling energy reduction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32120" y="4032504"/>
            <a:ext cx="32918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4032504"/>
            <a:ext cx="91440" cy="877824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33288" y="40873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 yrs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33288" y="44897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loop lifespan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" y="4873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U.S. Department of Energy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Ground Loop Systems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96012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960120"/>
            <a:ext cx="41148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61288"/>
            <a:ext cx="475488" cy="475488"/>
          </a:xfrm>
          <a:prstGeom prst="ellipse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0704" y="1143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Loop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0704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400 ft deep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Boreholes drilled straight down using specialized rigs. Best for properties with limited land area. Most common in urban and suburban settings.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7448" y="96012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960120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161288"/>
            <a:ext cx="475488" cy="475488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95544" y="1143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Loop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95544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 ft deep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78308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laid in wide, shallow trenches. Requires more land but is 20–30% cheaper than vertical drilling due to simpler equipment.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2608" y="281635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2816352"/>
            <a:ext cx="41148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17520"/>
            <a:ext cx="475488" cy="475488"/>
          </a:xfrm>
          <a:prstGeom prst="ellipse">
            <a:avLst/>
          </a:prstGeom>
          <a:solidFill>
            <a:srgbClr val="1C7293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0704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 / Lake 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0704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water body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3931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Coils of pipe submerged in a nearby body of water. Very low installation cost but requires a sufficiently large, clean water source.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27448" y="281635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2816352"/>
            <a:ext cx="4114800" cy="10972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017520"/>
            <a:ext cx="475488" cy="475488"/>
          </a:xfrm>
          <a:prstGeom prst="ellipse">
            <a:avLst/>
          </a:prstGeom>
          <a:solidFill>
            <a:srgbClr val="F7B731">
              <a:alpha val="85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95544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Loop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95544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well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63931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actual groundwater as the heat exchange fluid. Highly efficient but subject to local water quality and permit regulations.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Drilling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87552"/>
            <a:ext cx="159105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52144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8872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60320"/>
            <a:ext cx="13716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Geologists evaluate soil type, geology, available land, and heating/cooling load to design the optimal ground loop configuration.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93392" y="987552"/>
            <a:ext cx="159105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52144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 Drilling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94560" y="2468880"/>
            <a:ext cx="118872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560320"/>
            <a:ext cx="13716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rotary or percussion rigs drill precision boreholes 150–400 ft deep (residential) or up to 3,000 ft for commercial installations.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30752" y="987552"/>
            <a:ext cx="159105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1152144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Installation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2468880"/>
            <a:ext cx="118872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560320"/>
            <a:ext cx="13716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polyethylene (HDPE) U-bend pipe loops are lowered into boreholes and connected into a closed circuit.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68112" y="987552"/>
            <a:ext cx="159105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152144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Grouting &amp; Sealing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0" y="2468880"/>
            <a:ext cx="118872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560320"/>
            <a:ext cx="13716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Boreholes are filled with thermally enhanced grout to maximize heat transfer and prevent surface water contamination.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05472" y="987552"/>
            <a:ext cx="159105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0" y="1152144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19568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Commissioning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2468880"/>
            <a:ext cx="118872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2560320"/>
            <a:ext cx="13716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flushed with antifreeze solution, pressure-tested for leaks, and connected to the indoor heat pump unit.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" y="48188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initial site visit to first use: typically 1–3 days for residential installations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548640"/>
            <a:ext cx="2926080" cy="292608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023360"/>
            <a:ext cx="1645920" cy="164592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&amp; Why It Matters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7772400" cy="36576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1920240" cy="1261872"/>
          </a:xfrm>
          <a:prstGeom prst="rect">
            <a:avLst/>
          </a:prstGeom>
          <a:solidFill>
            <a:srgbClr val="12263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14400"/>
            <a:ext cx="19202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2412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3–6×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CoP: heat output per unit of electricity consumed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914400"/>
            <a:ext cx="1920240" cy="1261872"/>
          </a:xfrm>
          <a:prstGeom prst="rect">
            <a:avLst/>
          </a:prstGeom>
          <a:solidFill>
            <a:srgbClr val="122636"/>
          </a:solidFill>
          <a:ln w="19050">
            <a:solidFill>
              <a:srgbClr val="F7B7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914400"/>
            <a:ext cx="1920240" cy="9144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02412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78608" y="15544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savings vs. conventional heating &amp; cooling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90288" y="914400"/>
            <a:ext cx="1920240" cy="1261872"/>
          </a:xfrm>
          <a:prstGeom prst="rect">
            <a:avLst/>
          </a:prstGeom>
          <a:solidFill>
            <a:srgbClr val="12263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914400"/>
            <a:ext cx="19202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02412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$15K+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15544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installed cost for residential system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11696" y="914400"/>
            <a:ext cx="1920240" cy="1261872"/>
          </a:xfrm>
          <a:prstGeom prst="rect">
            <a:avLst/>
          </a:prstGeom>
          <a:solidFill>
            <a:srgbClr val="122636"/>
          </a:solidFill>
          <a:ln w="19050">
            <a:solidFill>
              <a:srgbClr val="F7B7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1696" y="914400"/>
            <a:ext cx="1920240" cy="9144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024128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21424" y="15544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to payback through energy savings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2359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280720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2770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heating energy use by up to 70% vs. traditional furnaces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335584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319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loops last 50+ years with minimal maintenance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1480" y="390448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867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outdoor units — hidden installation, minimal land footprint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2807208"/>
            <a:ext cx="164592" cy="164592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38344" y="2770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Carbon-neutral when powered by renewable electricity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3355848"/>
            <a:ext cx="164592" cy="164592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344" y="33192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for federal tax credits &amp; utility incentives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754880" y="3904488"/>
            <a:ext cx="164592" cy="164592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3867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both heating AND cooling from a single system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U.S. Dept. of Energy  ·  EnergySage  ·  Geothermal Rising  ·  Eaton Drilling &amp; Pump Service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 Source Geothermal Drilling</dc:title>
  <dc:subject>PptxGenJS Presentation</dc:subject>
  <dc:creator>PptxGenJS</dc:creator>
  <cp:lastModifiedBy>PptxGenJS</cp:lastModifiedBy>
  <cp:revision>1</cp:revision>
  <dcterms:created xsi:type="dcterms:W3CDTF">2026-03-12T12:40:19Z</dcterms:created>
  <dcterms:modified xsi:type="dcterms:W3CDTF">2026-03-12T12:40:19Z</dcterms:modified>
</cp:coreProperties>
</file>